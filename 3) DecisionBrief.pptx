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%</c:v>
                </c:pt>
              </c:strCache>
            </c:strRef>
          </c:tx>
          <c:spPr>
            <a:solidFill>
              <a:srgbClr val="2E57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C3A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Grammar</c:v>
                </c:pt>
                <c:pt idx="1">
                  <c:v>Opinion (pos)</c:v>
                </c:pt>
                <c:pt idx="2">
                  <c:v>Date</c:v>
                </c:pt>
                <c:pt idx="3">
                  <c:v>Opinion</c:v>
                </c:pt>
                <c:pt idx="4">
                  <c:v>Publication</c:v>
                </c:pt>
                <c:pt idx="5">
                  <c:v>General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56</c:v>
                </c:pt>
                <c:pt idx="2">
                  <c:v>44</c:v>
                </c:pt>
                <c:pt idx="3">
                  <c:v>41</c:v>
                </c:pt>
                <c:pt idx="4">
                  <c:v>31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DF-4BF2-ABCC-C453F21F34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091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0" y="48691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84TH TRAINING COMMAND   |   78TH TRAINING DIVISION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Integration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Brief for Senior Leadership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100" dirty="0">
                <a:solidFill>
                  <a:srgbClr val="E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LTC Trey Waversak, 78th TD AI-Integrations Cell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673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Proponent:  </a:t>
            </a:r>
            <a:r>
              <a:rPr lang="en-US" sz="1100" dirty="0">
                <a:solidFill>
                  <a:srgbClr val="E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84th TC AI Integration Working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1056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r>
              <a:rPr lang="en-US" sz="1100" dirty="0">
                <a:solidFill>
                  <a:srgbClr val="E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UP FRONT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C3A1C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80160"/>
            <a:ext cx="7772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78th Training Division has fielded an accredited GenAI capability (Ask Sage, IL5 / FedRAMP High) and measured its impact at OSJ 2026. Throughput modeling projects a ~97% reduction in TAF review-stage burden and a ~58% compression of the observation cycle; early live employment (N = 8) confirms real efficiency and quality gains with a human verifier on every product. Over 400 personnel trained or reached. The capability is proven and ready to scale.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Institutionalize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4087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Divisional Package as a standing 78th TD product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51176" y="3063240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34056" y="3246120"/>
            <a:ext cx="457200" cy="457200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34056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715768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Licensing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15768" y="4087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enterprise licensing &amp; token allocation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45152" y="3063240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28032" y="3246120"/>
            <a:ext cx="457200" cy="457200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9744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Expansion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9744" y="4087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84th TC &amp; USARC over 12–24 months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39128" y="3063240"/>
            <a:ext cx="197510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22008" y="3246120"/>
            <a:ext cx="457200" cy="457200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22008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4087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SIPR build-out &amp; champion cell planning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  |   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 Bottleneck at the Worst Moment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TAF Tier 2 review strains under exercise time pressure — and seniority alone does not fix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6550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15.82 min / CTO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4440" y="18562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manual review of an observation’s narrative sections; ~24.8 min adjusted for analysts who hit the time cap.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569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~41% errors missed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234440" y="27706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four in ten planted errors slip past on first pass.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33756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48386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~71 hrs analyst burden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234440" y="36850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CTOs at the unadjusted average; ~112 hrs on the adjusted baseline.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257800" y="141732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1C3A1C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349240" y="1554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 at OSJ 2026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5440680" y="2103120"/>
            <a:ext cx="3063240" cy="603504"/>
          </a:xfrm>
          <a:prstGeom prst="roundRect">
            <a:avLst>
              <a:gd name="adj" fmla="val 9091"/>
            </a:avLst>
          </a:prstGeom>
          <a:solidFill>
            <a:srgbClr val="F2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577840" y="2103120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766560" y="2103120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 routed to TAF cell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40680" y="2816352"/>
            <a:ext cx="3063240" cy="603504"/>
          </a:xfrm>
          <a:prstGeom prst="roundRect">
            <a:avLst>
              <a:gd name="adj" fmla="val 9091"/>
            </a:avLst>
          </a:prstGeom>
          <a:solidFill>
            <a:srgbClr val="F2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577840" y="281635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766560" y="2816352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TAF analysts available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40680" y="3529584"/>
            <a:ext cx="3063240" cy="603504"/>
          </a:xfrm>
          <a:prstGeom prst="roundRect">
            <a:avLst>
              <a:gd name="adj" fmla="val 9091"/>
            </a:avLst>
          </a:prstGeom>
          <a:solidFill>
            <a:srgbClr val="F2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577840" y="352958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~73 min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6766560" y="352958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per-analyst load (manual)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292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i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does not predict accuracy (Pearson r = 0.24). </a:t>
            </a: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structural — it cannot be closed by assigning more senior analysts. That is precisely the problem an AI standardizer is built to solve.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  |   THE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Divisional Package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AI personas on Ask Sage (IL5 / FedRAMP High) — accredited, guarded, field-proven.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06654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Persona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OCT, CHOT, or TAF Analyst role setup — fixes the model’s doctrinal grounding and output format.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8124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9292" y="16093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9292" y="206654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Task Prompt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9292" y="2377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prompt from the library — tailored to observation drafting, synthesis, or Tier 2 review.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9048" y="146304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0216" y="16093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0216" y="2066544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Document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23774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observation or product. The model extracts unit, task, date, and context automatically.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2679192" cy="1024128"/>
          </a:xfrm>
          <a:prstGeom prst="roundRect">
            <a:avLst>
              <a:gd name="adj" fmla="val 7143"/>
            </a:avLst>
          </a:prstGeom>
          <a:solidFill>
            <a:srgbClr val="EBF3E8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02736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9264" y="3547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T/P/U ratings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8368" y="3877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retains all readiness-rating authority. Model never assigns Trained / Practiced / Untrained.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78124" y="3456432"/>
            <a:ext cx="2679192" cy="1024128"/>
          </a:xfrm>
          <a:prstGeom prst="roundRect">
            <a:avLst>
              <a:gd name="adj" fmla="val 7143"/>
            </a:avLst>
          </a:prstGeom>
          <a:solidFill>
            <a:srgbClr val="EBF3E8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292" y="3602736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90188" y="3547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 NIPR only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479292" y="3877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classified info, PII, or sensitive unit vulnerabilities entered at any point.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99048" y="3456432"/>
            <a:ext cx="2679192" cy="1024128"/>
          </a:xfrm>
          <a:prstGeom prst="roundRect">
            <a:avLst>
              <a:gd name="adj" fmla="val 7143"/>
            </a:avLst>
          </a:prstGeom>
          <a:solidFill>
            <a:srgbClr val="EBF3E8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602736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11112" y="354787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submitting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300216" y="3877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product verified against current doctrine before submission — the OCT owns the output.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  |   RESULTS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TAF Analysts • 8 errors • 20-min limit (10 JUN)   |   Live log N = 8 (through 18 JUN)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review-stage reduction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115.9 hrs → 3.25 hrs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87752" y="14173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~58%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79192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cycle compression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79192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7.59 hrs → 3.18 hrs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18304" y="14173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9744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4A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 min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809744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hands-on / full CTO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early-adoption (N=8)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48856" y="141732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0296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40296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trained / reached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0296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Demand-driven adoption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5968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RATES — MANUAL FIRST PASS (% of analysts)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2852928"/>
          <a:ext cx="4617720" cy="181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257800" y="2606040"/>
            <a:ext cx="3429000" cy="2057400"/>
          </a:xfrm>
          <a:prstGeom prst="roundRect">
            <a:avLst>
              <a:gd name="adj" fmla="val 3556"/>
            </a:avLst>
          </a:prstGeom>
          <a:solidFill>
            <a:srgbClr val="1C3A1C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394960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Live Employment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394960" y="29900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18 June 2026  •  N = 8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39496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 min</a:t>
            </a: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hands-on / full CTO (4.8 AI + 15.6 verify)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94960" y="3520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output: </a:t>
            </a:r>
            <a:r>
              <a:rPr lang="en-US" sz="950" b="1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Ready • 4 Minor Edits • 2 Not Ready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94960" y="38039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</a:t>
            </a: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reviews — analyst materially modified AI output (oversight retained).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9496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 </a:t>
            </a: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reduction vs. adjusted manual — trends toward the modeled ceiling as the persona matures.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  |   LESSONS LEARNED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Lessons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proof-of-concept to deployed capability.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420624" cy="420624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14538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4356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and licensing approval is the long pole in the tent. Secure it before training, before onboarding, before everything else.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" y="2203704"/>
            <a:ext cx="420624" cy="420624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21488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Backing is Decisive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1305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commander’s tasking converted a grassroots experiment into a resourced program. Rank opens institutional doors.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" y="2898648"/>
            <a:ext cx="420624" cy="420624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8720" y="28437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Beats Argument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8254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overcame resistance that briefings could not. Seeing is believing — put hands on keyboards.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021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" y="3593592"/>
            <a:ext cx="420624" cy="420624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88720" y="35387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Quality, Not Just Speed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5204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catches the technical errors humans miss most — publication and general/abbreviation defects. A quality multiplier, not a shortcut.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19709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" y="4288536"/>
            <a:ext cx="420624" cy="420624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88720" y="42336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Champion Cell Earlier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42153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two-person cell carried the entire effort. A deliberate, resourced cell would scale faster with less single-point fragility.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  |   RISK &amp; RESOURCING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Resourcing &amp; Risk Assessment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Cost Driver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0604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license and token replenishment (recurring subscription).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400" y="1645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E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
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predictable cost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EFEFE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Not Resourced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6040" y="23774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overload at scale; degraded RTU product quality; unmanaged use of unaccredited commercial tools.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2377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
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returns at next exercise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In Place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3108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authority; accredited platforms only; UNCLASSIFIED / NIPR; classification scrub on every product.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31089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E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
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by design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1C3A1C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968496"/>
            <a:ext cx="7772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0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four decisions and direct the 78th TD AI-Integrations Cell — supported by the 84th TC AI Integration Working Group — to execute. The capability is proven, trained, and ready. The limiting factor is resourcing and authority to scale.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Resourcing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Required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234A23"/>
          </a:solidFill>
          <a:ln w="9525">
            <a:solidFill>
              <a:srgbClr val="2E5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527048"/>
            <a:ext cx="457200" cy="457200"/>
          </a:xfrm>
          <a:prstGeom prst="ellipse">
            <a:avLst/>
          </a:prstGeom>
          <a:solidFill>
            <a:srgbClr val="C4A1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144475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Divisional Package (personas, prompts, training, SOPs, data libraries) as a standing 78th Training Division product.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69480" y="14630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approves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234A23"/>
          </a:solidFill>
          <a:ln w="9525">
            <a:solidFill>
              <a:srgbClr val="2E5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C4A1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34440" y="2331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Licensing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231343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enterprise licensing and token allocation — the recurring cost driver and precondition for all scale.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69480" y="2331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234A23"/>
          </a:solidFill>
          <a:ln w="9525">
            <a:solidFill>
              <a:srgbClr val="2E5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264408"/>
            <a:ext cx="457200" cy="457200"/>
          </a:xfrm>
          <a:prstGeom prst="ellipse">
            <a:avLst/>
          </a:prstGeom>
          <a:solidFill>
            <a:srgbClr val="C4A1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34440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 Expansion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11880" y="318211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expansion across the 84th TC and USARC over 12–24 months.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69480" y="32004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84th TC CG directs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234A23"/>
          </a:solidFill>
          <a:ln w="9525">
            <a:solidFill>
              <a:srgbClr val="2E57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0080" y="4133088"/>
            <a:ext cx="457200" cy="457200"/>
          </a:xfrm>
          <a:prstGeom prst="ellipse">
            <a:avLst/>
          </a:prstGeom>
          <a:solidFill>
            <a:srgbClr val="C4A1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34440" y="4069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11880" y="40507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5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SIPR build-out planning, champion cell establishment, and evaluation of additional accredited tools.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9480" y="4069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authorization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DB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GenAI Integration — Lessons &amp; Best Practices Handbook (78th TD, 2026)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4A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 |   PATH TO SCALE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Rinse-and-Repeat: The Replication 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ordered steps any unit can execute to move from zero to deployed capability.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165506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1673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1226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highest-payoff use cases; baseline current timelines.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50876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1C3A1C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70632" y="1655064"/>
            <a:ext cx="402336" cy="402336"/>
          </a:xfrm>
          <a:prstGeom prst="ellipse">
            <a:avLst/>
          </a:prstGeom>
          <a:solidFill>
            <a:srgbClr val="C4A1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673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11226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EA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enterprise licensing and tokens first.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19472" y="165506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13248" y="1673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11226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accounts on the accredited platform.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50876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68312" y="165506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68312" y="1655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2088" y="16733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211226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training: awareness → practitioner → champion.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" y="311810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5568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575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OCTs, TAF cell, and CHOTs in-exercise.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06040" y="2971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70632" y="311810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70632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64408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88920" y="3575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throughput and quality data against baseline.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971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9472" y="311810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13248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3575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personas, prompts, SOPs from observed results.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2971800"/>
            <a:ext cx="2011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068312" y="3118104"/>
            <a:ext cx="402336" cy="402336"/>
          </a:xfrm>
          <a:prstGeom prst="ellipse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68312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C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62088" y="3136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86600" y="3575304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proven package to the next unit and repeat.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(License) is highlighted </a:t>
            </a: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is the single most common failure point when replicating this program.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32604"/>
            <a:ext cx="9144000" cy="310896"/>
          </a:xfrm>
          <a:prstGeom prst="rect">
            <a:avLst/>
          </a:prstGeom>
          <a:solidFill>
            <a:srgbClr val="1C3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0040" y="48326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 |   84th TC AI Integration Working Group   |   </a:t>
            </a:r>
            <a:r>
              <a:rPr lang="en-US" sz="750" b="1" dirty="0">
                <a:solidFill>
                  <a:srgbClr val="E8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 (Backup)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200400" y="483260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8D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   |   78th TD / 84th TC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PresentationFormat>On-screen Show (16:9)</PresentationFormat>
  <Paragraphs>193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Integration — Decision Brief</dc:title>
  <dc:subject>PptxGenJS Presentation</dc:subject>
  <dc:creator>78th TD AI-Integrations Cell</dc:creator>
  <cp:lastModifiedBy>james waversak</cp:lastModifiedBy>
  <cp:revision>1</cp:revision>
  <dcterms:created xsi:type="dcterms:W3CDTF">2026-06-17T16:38:21Z</dcterms:created>
  <dcterms:modified xsi:type="dcterms:W3CDTF">2026-06-17T16:45:35Z</dcterms:modified>
</cp:coreProperties>
</file>